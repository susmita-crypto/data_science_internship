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raunces ExtraBold" panose="020B0604020202020204" charset="0"/>
      <p:regular r:id="rId17"/>
    </p:embeddedFont>
    <p:embeddedFont>
      <p:font typeface="Nobile" panose="020B0604020202020204" charset="0"/>
      <p:regular r:id="rId18"/>
    </p:embeddedFont>
    <p:embeddedFont>
      <p:font typeface="Nobile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50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35981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Churn Prediction and Retention Analytics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235523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Science Internship — Week 12 Capstone Project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3742035"/>
            <a:ext cx="6296860" cy="97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End-to-end Data Science Project • Customer Churn Analysis • Machine Learning Prediction • Power BI Dashboard   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</a:t>
            </a:r>
            <a:r>
              <a:rPr lang="en-US" sz="13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Prepared by: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[Susmita Bhattarai] — Data Science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2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Problem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98638"/>
            <a:ext cx="10868745" cy="124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Customer churn reduces recurring revenue and increases customer-acquisition costs. The core business question guiding this capstone:   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Can customer data be used to identify customers at higher risk of churn and provide useful information for customer-retention decisions?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29173"/>
            <a:ext cx="1010617" cy="6245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8759" y="3229173"/>
            <a:ext cx="226778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Analyze churn patterns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78759" y="3845322"/>
            <a:ext cx="226778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Explore which customer segments show elevated churn risk and why, using descriptive analysis and visualizations.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213" y="3229173"/>
            <a:ext cx="1010617" cy="6245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0497" y="3229173"/>
            <a:ext cx="2267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Predict churn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570497" y="3586857"/>
            <a:ext cx="226788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 baseline machine-learning model to estimate individual churn probability and rank risk.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050" y="3229173"/>
            <a:ext cx="1010617" cy="6245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62335" y="3229173"/>
            <a:ext cx="2267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Support retention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62335" y="3586857"/>
            <a:ext cx="226788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Translate model outputs into actionable insights via a business-focused Power BI dashboard for decision support.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1475" y="539571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661475" y="564207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Flow: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Customer Data → Churn Analysis → Prediction → Business Decision Support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28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and Data Preparation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1032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Dataset used: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Telco Customer Churn (Kaggle)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Contains customer demographics, services, contract and payment attributes, tenure, monthly &amp; total charges, and churn status.  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25589"/>
            <a:ext cx="1172736" cy="11727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40879" y="3125589"/>
            <a:ext cx="39515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40879" y="3483273"/>
            <a:ext cx="3951586" cy="1361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Converted </a:t>
            </a: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TotalCharges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numeric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Handled missing values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Removed </a:t>
            </a: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(identifier)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Checked data quality; converted </a:t>
            </a: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binary target       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132" y="3125589"/>
            <a:ext cx="1172836" cy="1172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78635" y="3125589"/>
            <a:ext cx="39515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Preparation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78635" y="3483273"/>
            <a:ext cx="395158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Prepared numerical and categorical features for ML (imputation, encoding)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Final cleaned dataset: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7,021 customer records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1475" y="503049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Pipeline: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Raw Data → Cleaning → Feature Preparation → Analysis &amp; Modelling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159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Exploratory Data Analysis (EDA)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068983"/>
            <a:ext cx="114783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Purpose: Understand which customer characteristics are associated with churn and surface actionable patterns for retention strategy.   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60587"/>
            <a:ext cx="902074" cy="1127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8379" y="1360587"/>
            <a:ext cx="212392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Churn by contract type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648379" y="1593949"/>
            <a:ext cx="2123923" cy="1017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comparison across month-to-month, one-year, and two-year contracts. 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Month-to-month contract - 42.71%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One-year contract - 11.27%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Two-year contract - 2.83%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132" y="1360587"/>
            <a:ext cx="902074" cy="11276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4036" y="1360587"/>
            <a:ext cx="2124022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Churn by internet service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44036" y="1593949"/>
            <a:ext cx="2124022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 churn proportions for DSL, Fiber optic, and No internet. 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DSL internet - 18.96%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Fabric optic internet - 41.89%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 internet service - 7.40%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746772"/>
            <a:ext cx="902074" cy="11276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8379" y="2746772"/>
            <a:ext cx="212392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Churn by payment method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648379" y="2980134"/>
            <a:ext cx="2123923" cy="12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Assess differences across electronic check, mailed check, bank transfer, and credit card. 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Electronic check: 45.29%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Mailed check: 19.11%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Bank transfer (automatic): 16.71%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Credit card (automatic): 15.24%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312" y="1387574"/>
            <a:ext cx="1580515" cy="127138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32767" y="2823270"/>
            <a:ext cx="4303704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Tenure comparison:</a:t>
            </a: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Visualize average/median tenure for churned vs retained customers. 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Churned Customers: 17.98 months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Retained Customers: 37.57 months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202" y="3665637"/>
            <a:ext cx="1628734" cy="12713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32767" y="5101332"/>
            <a:ext cx="4303704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Monthly charges:</a:t>
            </a: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Compare distribution of monthly charges between churn groups. 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Churned customers: $74.44/month on average</a:t>
            </a:r>
            <a:endParaRPr lang="en-US" sz="800" dirty="0"/>
          </a:p>
          <a:p>
            <a:pPr marL="0" indent="0" algn="l">
              <a:lnSpc>
                <a:spcPct val="10900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Retained customers: $61.27/month on average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Difference: $13.17/month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661475" y="5977731"/>
            <a:ext cx="10868745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Key message: The analysis identified differences in churn patterns across contract type, internet service, payment method, tenure, and monthly charges. Exact numbers available in notebook: </a:t>
            </a:r>
            <a:r>
              <a:rPr lang="en-US" sz="800" dirty="0">
                <a:solidFill>
                  <a:srgbClr val="405449"/>
                </a:solidFill>
                <a:highlight>
                  <a:srgbClr val="D1E7D2"/>
                </a:highlight>
                <a:latin typeface="Nobile" pitchFamily="34" charset="0"/>
                <a:ea typeface="Nobile" pitchFamily="34" charset="-122"/>
                <a:cs typeface="Nobile" pitchFamily="34" charset="-120"/>
              </a:rPr>
              <a:t>replace placeholders with notebook outputs</a:t>
            </a: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Problem type: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Binary classification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target is Customer Churn. Baseline model: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Logistic Regression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  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941487"/>
            <a:ext cx="206667" cy="2066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199753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Logistic Regression?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1353741"/>
            <a:ext cx="5408576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Interpretable baseline for binary outcomes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Produces churn probabilities for prioritization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Helps understand feature relationships       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644" y="941487"/>
            <a:ext cx="206667" cy="2066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1644" y="1199753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Preprocessing pipeline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121644" y="1353741"/>
            <a:ext cx="540857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1. Numerical imputation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2. Numerical standardization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3. Categorical imputation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4. One-hot encoding       </a:t>
            </a:r>
            <a:endParaRPr lang="en-US" sz="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21" y="1796653"/>
            <a:ext cx="10779153" cy="46482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31583" y="556346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431583" y="4487455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Encoding &amp; Scaling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431583" y="342231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Preprocessing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431583" y="2346311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Data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61475" y="6491387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 resulting pipeline outputs predicted churn probabilities per customer for downstream retention prioritization.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266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12441"/>
            <a:ext cx="11478330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The Logistic Regression model was evaluated across standard classification metrics and visual diagnostics. Replace the placeholders below with notebook results.   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430040"/>
            <a:ext cx="3550156" cy="738882"/>
          </a:xfrm>
          <a:prstGeom prst="roundRect">
            <a:avLst>
              <a:gd name="adj" fmla="val 163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95814" y="1564382"/>
            <a:ext cx="32814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814" y="1839813"/>
            <a:ext cx="328147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74.95%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0769" y="1430040"/>
            <a:ext cx="3550156" cy="738882"/>
          </a:xfrm>
          <a:prstGeom prst="roundRect">
            <a:avLst>
              <a:gd name="adj" fmla="val 163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55108" y="1564382"/>
            <a:ext cx="32814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55108" y="1839813"/>
            <a:ext cx="328147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66.22%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80064" y="1430040"/>
            <a:ext cx="3550156" cy="738882"/>
          </a:xfrm>
          <a:prstGeom prst="roundRect">
            <a:avLst>
              <a:gd name="adj" fmla="val 163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114402" y="1564382"/>
            <a:ext cx="32814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14402" y="1839813"/>
            <a:ext cx="328147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52.55%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1475" y="2278063"/>
            <a:ext cx="5379804" cy="738882"/>
          </a:xfrm>
          <a:prstGeom prst="roundRect">
            <a:avLst>
              <a:gd name="adj" fmla="val 163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95814" y="2412405"/>
            <a:ext cx="5111126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814" y="2687836"/>
            <a:ext cx="5111126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58.59%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0416" y="2278063"/>
            <a:ext cx="5379804" cy="738882"/>
          </a:xfrm>
          <a:prstGeom prst="roundRect">
            <a:avLst>
              <a:gd name="adj" fmla="val 163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284755" y="2412405"/>
            <a:ext cx="5111126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ROC-AUC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4755" y="2687836"/>
            <a:ext cx="5111126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84%</a:t>
            </a:r>
            <a:endParaRPr lang="en-US" sz="10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848" y="3269059"/>
            <a:ext cx="2737278" cy="16126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1475" y="5109170"/>
            <a:ext cx="6999708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Confusion matrix: visualize true positives, false positives, true negatives, false negatives. 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433" y="3269059"/>
            <a:ext cx="2245463" cy="16126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85758" y="5109170"/>
            <a:ext cx="4150812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ROC curve: trade-off between true positive rate and false positive rate.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61475" y="5719762"/>
            <a:ext cx="10868745" cy="663972"/>
          </a:xfrm>
          <a:prstGeom prst="roundRect">
            <a:avLst>
              <a:gd name="adj" fmla="val 182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14" y="5878215"/>
            <a:ext cx="167973" cy="13434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8126" y="5862439"/>
            <a:ext cx="10297756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 model provides a baseline approach for identifying customers with higher predicted churn risk. Model performance should be interpreted using multiple metrics rather than accuracy alone.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Findings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Main findings (summary of EDA and model insights). These patterns indicate associations — not causal claims.   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41487"/>
            <a:ext cx="589245" cy="5892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2313" y="941487"/>
            <a:ext cx="20376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Contract type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02313" y="1095474"/>
            <a:ext cx="2037604" cy="421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Different contract types show distinct churn patterns. Use contract-based retention offers for high-risk segments. 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510" y="941487"/>
            <a:ext cx="589245" cy="5892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32348" y="941487"/>
            <a:ext cx="20377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Internet service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032348" y="1095474"/>
            <a:ext cx="2037704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Service type (e.g., fiber vs DSL) correlates with churn behavior—targeted support may reduce cancellations.</a:t>
            </a:r>
            <a:endParaRPr lang="en-US" sz="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644" y="941487"/>
            <a:ext cx="589245" cy="5892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2482" y="941487"/>
            <a:ext cx="20376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Payment method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762482" y="1095474"/>
            <a:ext cx="2037604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Payment patterns relate to churn probabilities—consider reminders or alternative payment incentives.</a:t>
            </a:r>
            <a:endParaRPr lang="en-US" sz="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679" y="941487"/>
            <a:ext cx="589245" cy="5892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92516" y="941487"/>
            <a:ext cx="20377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Tenure &amp; Charges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9492516" y="1095474"/>
            <a:ext cx="2037704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Tenure and monthly charges exhibit distributional differences across churn groups—segment by tenure cohorts for retention tactics.</a:t>
            </a:r>
            <a:endParaRPr lang="en-US" sz="650" dirty="0"/>
          </a:p>
        </p:txBody>
      </p:sp>
      <p:sp>
        <p:nvSpPr>
          <p:cNvPr id="16" name="Shape 10"/>
          <p:cNvSpPr/>
          <p:nvPr/>
        </p:nvSpPr>
        <p:spPr>
          <a:xfrm>
            <a:off x="661475" y="1597819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661475" y="1677591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Business interpretation: Machine-learning predictions can help prioritize retention outreach, but predictions should augment — not replace — human decision-making.   </a:t>
            </a:r>
            <a:endParaRPr lang="en-US" sz="6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015" y="1823145"/>
            <a:ext cx="8397566" cy="578723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107337" y="5424166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Traits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4062857" y="2993928"/>
            <a:ext cx="2369380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Churn Patterns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5653426" y="6135915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Predicted Risk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7690461" y="3633670"/>
            <a:ext cx="2294828" cy="30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Retention Action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9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Power BI Dashboard — Customer Churn Analytics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3239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A Power BI dashboard was developed to present findings to non-technical stakeholders. The dashboard summarizes key metrics and allows interactive exploration by segment.  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47665"/>
            <a:ext cx="1545889" cy="9553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4031" y="2747665"/>
            <a:ext cx="35784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Dashboard components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4031" y="3105348"/>
            <a:ext cx="3578433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Total Customers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Churned Customers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Overall Churn Rate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Churn Rate by Contract Type / Internet Service / Payment Method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- Average Tenure &amp; Monthly Charges by Churn Status       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132" y="2747665"/>
            <a:ext cx="1545988" cy="9554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1787" y="2747665"/>
            <a:ext cx="357843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Screnshot of Power BI Dash board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1475" y="514369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 dashboard provides a concise business view of patterns identified during EDA and can be used to filter by segments and prioritize retention actions.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24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Limitations and Future Improvements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925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516287"/>
            <a:ext cx="5232666" cy="234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analysis uses one historical customer dataset and may not generalize to every company.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Available variables may not include all factors that influence churn.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Logistic Regression is a baseline and may miss complex patterns.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Predictions include false positives and false negatives.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external dataset validation has been performed yet.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0925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516287"/>
            <a:ext cx="5232666" cy="240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additional ML models (tree-based, ensemble, gradient boosting)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robust cross-validation and stratified sampling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Hyperparameter tuning and threshold optimization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the model on new/external customer data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business-specific features (support interactions, promotions)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monitoring for data drift and model 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516632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Visual: Two-column layout above (Limitations | Future Improvements) enables side-by-side planning for technical and business stakeholders.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01F176B-3D98-93FB-695A-F23845E2B015}"/>
              </a:ext>
            </a:extLst>
          </p:cNvPr>
          <p:cNvSpPr/>
          <p:nvPr/>
        </p:nvSpPr>
        <p:spPr>
          <a:xfrm>
            <a:off x="1473238" y="39623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 and Internship Reflection</a:t>
            </a:r>
            <a:endParaRPr lang="en-US" sz="32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690B5CB-F300-C014-060C-3AD85EAE03BB}"/>
              </a:ext>
            </a:extLst>
          </p:cNvPr>
          <p:cNvSpPr/>
          <p:nvPr/>
        </p:nvSpPr>
        <p:spPr>
          <a:xfrm>
            <a:off x="661475" y="150207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Summary: Completed an end-to-end customer churn capstone combining data cleaning, EDA, visualization, model building, model evaluation, and a Power BI dashboard to support retention decisions.   </a:t>
            </a:r>
            <a:endParaRPr lang="en-US" sz="13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B820F94-25AB-80B7-70BC-F9C3156933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17341"/>
            <a:ext cx="3512653" cy="1997373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782A033C-3390-9474-B6A8-20E49C863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8585" y="2366169"/>
            <a:ext cx="198433" cy="198438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578769AD-DFF9-71D4-48EF-21B7CDC99188}"/>
              </a:ext>
            </a:extLst>
          </p:cNvPr>
          <p:cNvSpPr/>
          <p:nvPr/>
        </p:nvSpPr>
        <p:spPr>
          <a:xfrm>
            <a:off x="845819" y="287883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takeaway 1</a:t>
            </a:r>
            <a:endParaRPr lang="en-US" sz="16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FFFB324-EBBF-C889-2A33-26D9AF22C3B8}"/>
              </a:ext>
            </a:extLst>
          </p:cNvPr>
          <p:cNvSpPr/>
          <p:nvPr/>
        </p:nvSpPr>
        <p:spPr>
          <a:xfrm>
            <a:off x="845819" y="3236516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workflow: Business problem → data → modelling → communication.</a:t>
            </a:r>
            <a:endParaRPr lang="en-US" sz="13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28CCE034-8583-3022-45FD-E0E0C1005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39422" y="2217341"/>
            <a:ext cx="3512752" cy="1997373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7484B76-D821-8A2C-9208-50E26F2C2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6532" y="2366169"/>
            <a:ext cx="198433" cy="19843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AD943AB1-D435-EF87-F5A4-29CEB5E7C693}"/>
              </a:ext>
            </a:extLst>
          </p:cNvPr>
          <p:cNvSpPr/>
          <p:nvPr/>
        </p:nvSpPr>
        <p:spPr>
          <a:xfrm>
            <a:off x="4523766" y="2878832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takeaway 2</a:t>
            </a:r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931197D-A840-F7F2-76E3-96AD4741F4F0}"/>
              </a:ext>
            </a:extLst>
          </p:cNvPr>
          <p:cNvSpPr/>
          <p:nvPr/>
        </p:nvSpPr>
        <p:spPr>
          <a:xfrm>
            <a:off x="4523766" y="3236516"/>
            <a:ext cx="3144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Interpretation: Learned to interpret model outputs and relate them to business decisions.</a:t>
            </a:r>
            <a:endParaRPr lang="en-US" sz="1300" dirty="0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5ED4D2C4-9AB8-3678-61EE-5FF236785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7468" y="2217341"/>
            <a:ext cx="3512653" cy="1997373"/>
          </a:xfrm>
          <a:prstGeom prst="rect">
            <a:avLst/>
          </a:prstGeom>
        </p:spPr>
      </p:pic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031F04FF-BE84-4195-3E77-A03FEA91E9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4578" y="2366169"/>
            <a:ext cx="198433" cy="198438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806C207D-9F38-9D3C-A90F-9B09E459890D}"/>
              </a:ext>
            </a:extLst>
          </p:cNvPr>
          <p:cNvSpPr/>
          <p:nvPr/>
        </p:nvSpPr>
        <p:spPr>
          <a:xfrm>
            <a:off x="8201812" y="287883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takeaway 3</a:t>
            </a:r>
            <a:endParaRPr lang="en-US" sz="16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09BF32B8-37EF-C341-CEFE-5FB932485098}"/>
              </a:ext>
            </a:extLst>
          </p:cNvPr>
          <p:cNvSpPr/>
          <p:nvPr/>
        </p:nvSpPr>
        <p:spPr>
          <a:xfrm>
            <a:off x="8201812" y="3236516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Reproducibility: Improved notebook organization, documentation, and version control practices.</a:t>
            </a:r>
            <a:endParaRPr lang="en-US" sz="13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E9E30D52-006C-7C51-E0C2-E17B5368D31B}"/>
              </a:ext>
            </a:extLst>
          </p:cNvPr>
          <p:cNvSpPr/>
          <p:nvPr/>
        </p:nvSpPr>
        <p:spPr>
          <a:xfrm>
            <a:off x="661475" y="4400748"/>
            <a:ext cx="10868745" cy="124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Areas to keep improving: advanced ML techniques, model tuning &amp; validation, richer dashboards, and clearer communication of analytical insights.   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Final message: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“This capstone demonstrates how data science connects technical analysis with practical business questions and decision support.”</a:t>
            </a:r>
            <a:endParaRPr lang="en-US" sz="13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60CC89B-9900-9646-F357-D23C7ECAAD7A}"/>
              </a:ext>
            </a:extLst>
          </p:cNvPr>
          <p:cNvSpPr/>
          <p:nvPr/>
        </p:nvSpPr>
        <p:spPr>
          <a:xfrm>
            <a:off x="661475" y="5893296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Thank you — Questions &amp; Discussion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608080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1192</Words>
  <Application>Microsoft Office PowerPoint</Application>
  <PresentationFormat>Widescreen</PresentationFormat>
  <Paragraphs>142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Nobile</vt:lpstr>
      <vt:lpstr>Arial</vt:lpstr>
      <vt:lpstr>Consolas</vt:lpstr>
      <vt:lpstr>Nobile Bold</vt:lpstr>
      <vt:lpstr>Fraunces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lastModifiedBy>Susmita Bhattarai</cp:lastModifiedBy>
  <cp:revision>2</cp:revision>
  <dcterms:created xsi:type="dcterms:W3CDTF">2026-09-21T09:59:54Z</dcterms:created>
  <dcterms:modified xsi:type="dcterms:W3CDTF">2026-09-21T10:04:00Z</dcterms:modified>
</cp:coreProperties>
</file>